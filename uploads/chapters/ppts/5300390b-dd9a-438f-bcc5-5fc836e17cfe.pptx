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Alice"/>
      <p:regular r:id="rId17"/>
    </p:embeddedFont>
    <p:embeddedFont>
      <p:font typeface="Alice"/>
      <p:regular r:id="rId18"/>
    </p:embeddedFont>
    <p:embeddedFont>
      <p:font typeface="Lora"/>
      <p:regular r:id="rId19"/>
    </p:embeddedFont>
    <p:embeddedFont>
      <p:font typeface="Lora"/>
      <p:regular r:id="rId20"/>
    </p:embeddedFont>
    <p:embeddedFont>
      <p:font typeface="Lora"/>
      <p:regular r:id="rId21"/>
    </p:embeddedFont>
    <p:embeddedFont>
      <p:font typeface="Lora"/>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slideLayout" Target="../slideLayouts/slideLayout9.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510076"/>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TinyML: AI trên Thiết bị Nhúng</a:t>
            </a:r>
            <a:endParaRPr lang="en-US" sz="4450" dirty="0"/>
          </a:p>
        </p:txBody>
      </p:sp>
      <p:sp>
        <p:nvSpPr>
          <p:cNvPr id="4" name="Text 1"/>
          <p:cNvSpPr/>
          <p:nvPr/>
        </p:nvSpPr>
        <p:spPr>
          <a:xfrm>
            <a:off x="793790" y="426779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TinyML là một lĩnh vực AI mới, tập trung vào việc triển khai các thuật toán học máy trên các thiết bị vi điều khiển công suất thấp. Công nghệ này giải quyết các vấn đề về chi phí, năng lượng và bảo mật của AI đám mây truyền thống.</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09048"/>
            <a:ext cx="6608207"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Lợi ích Cốt lõi của TinyML</a:t>
            </a:r>
            <a:endParaRPr lang="en-US" sz="4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071455"/>
            <a:ext cx="566976" cy="566976"/>
          </a:xfrm>
          <a:prstGeom prst="rect">
            <a:avLst/>
          </a:prstGeom>
        </p:spPr>
      </p:pic>
      <p:sp>
        <p:nvSpPr>
          <p:cNvPr id="4" name="Text 1"/>
          <p:cNvSpPr/>
          <p:nvPr/>
        </p:nvSpPr>
        <p:spPr>
          <a:xfrm>
            <a:off x="1644253" y="30714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Độ trễ thấp</a:t>
            </a:r>
            <a:endParaRPr lang="en-US" sz="2200" dirty="0"/>
          </a:p>
        </p:txBody>
      </p:sp>
      <p:sp>
        <p:nvSpPr>
          <p:cNvPr id="5" name="Text 2"/>
          <p:cNvSpPr/>
          <p:nvPr/>
        </p:nvSpPr>
        <p:spPr>
          <a:xfrm>
            <a:off x="1644253" y="3561874"/>
            <a:ext cx="3308152" cy="108870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Xử lý tại biên, đưa ra quyết định thời gian thực nhanh chóng.</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5893" y="3071455"/>
            <a:ext cx="566976" cy="566976"/>
          </a:xfrm>
          <a:prstGeom prst="rect">
            <a:avLst/>
          </a:prstGeom>
        </p:spPr>
      </p:pic>
      <p:sp>
        <p:nvSpPr>
          <p:cNvPr id="7" name="Text 3"/>
          <p:cNvSpPr/>
          <p:nvPr/>
        </p:nvSpPr>
        <p:spPr>
          <a:xfrm>
            <a:off x="6086356" y="30714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Năng lượng cực thấp</a:t>
            </a:r>
            <a:endParaRPr lang="en-US" sz="2200" dirty="0"/>
          </a:p>
        </p:txBody>
      </p:sp>
      <p:sp>
        <p:nvSpPr>
          <p:cNvPr id="8" name="Text 4"/>
          <p:cNvSpPr/>
          <p:nvPr/>
        </p:nvSpPr>
        <p:spPr>
          <a:xfrm>
            <a:off x="6086356" y="3561874"/>
            <a:ext cx="3308152"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Hoạt động bằng pin trong thời gian dài (tuần hoặc năm).</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7995" y="3071455"/>
            <a:ext cx="566976" cy="566976"/>
          </a:xfrm>
          <a:prstGeom prst="rect">
            <a:avLst/>
          </a:prstGeom>
        </p:spPr>
      </p:pic>
      <p:sp>
        <p:nvSpPr>
          <p:cNvPr id="10" name="Text 5"/>
          <p:cNvSpPr/>
          <p:nvPr/>
        </p:nvSpPr>
        <p:spPr>
          <a:xfrm>
            <a:off x="10528459" y="30714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Quyền riêng tư</a:t>
            </a:r>
            <a:endParaRPr lang="en-US" sz="2200" dirty="0"/>
          </a:p>
        </p:txBody>
      </p:sp>
      <p:sp>
        <p:nvSpPr>
          <p:cNvPr id="11" name="Text 6"/>
          <p:cNvSpPr/>
          <p:nvPr/>
        </p:nvSpPr>
        <p:spPr>
          <a:xfrm>
            <a:off x="10528459" y="3561874"/>
            <a:ext cx="3308152"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Dữ liệu không rời khỏi thiết bị, đảm bảo an toàn thông tin.</a:t>
            </a:r>
            <a:endParaRPr lang="en-US" sz="17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5104209"/>
            <a:ext cx="566976" cy="566976"/>
          </a:xfrm>
          <a:prstGeom prst="rect">
            <a:avLst/>
          </a:prstGeom>
        </p:spPr>
      </p:pic>
      <p:sp>
        <p:nvSpPr>
          <p:cNvPr id="13" name="Text 7"/>
          <p:cNvSpPr/>
          <p:nvPr/>
        </p:nvSpPr>
        <p:spPr>
          <a:xfrm>
            <a:off x="1644253" y="5104209"/>
            <a:ext cx="2925366"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Hoạt động ngoại tuyến</a:t>
            </a:r>
            <a:endParaRPr lang="en-US" sz="2200" dirty="0"/>
          </a:p>
        </p:txBody>
      </p:sp>
      <p:sp>
        <p:nvSpPr>
          <p:cNvPr id="14" name="Text 8"/>
          <p:cNvSpPr/>
          <p:nvPr/>
        </p:nvSpPr>
        <p:spPr>
          <a:xfrm>
            <a:off x="1644253" y="5594628"/>
            <a:ext cx="3308152"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Không phụ thuộc vào kết nối Internet.</a:t>
            </a:r>
            <a:endParaRPr lang="en-US" sz="17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35893" y="5104209"/>
            <a:ext cx="566976" cy="566976"/>
          </a:xfrm>
          <a:prstGeom prst="rect">
            <a:avLst/>
          </a:prstGeom>
        </p:spPr>
      </p:pic>
      <p:sp>
        <p:nvSpPr>
          <p:cNvPr id="16" name="Text 9"/>
          <p:cNvSpPr/>
          <p:nvPr/>
        </p:nvSpPr>
        <p:spPr>
          <a:xfrm>
            <a:off x="6086356" y="510420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Tiết kiệm chi phí</a:t>
            </a:r>
            <a:endParaRPr lang="en-US" sz="2200" dirty="0"/>
          </a:p>
        </p:txBody>
      </p:sp>
      <p:sp>
        <p:nvSpPr>
          <p:cNvPr id="17" name="Text 10"/>
          <p:cNvSpPr/>
          <p:nvPr/>
        </p:nvSpPr>
        <p:spPr>
          <a:xfrm>
            <a:off x="6086356" y="5594628"/>
            <a:ext cx="3308152"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Giảm chi phí băng thông và lưu trữ đám mây.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593056" y="1225987"/>
            <a:ext cx="5282684" cy="518279"/>
          </a:xfrm>
          <a:prstGeom prst="rect">
            <a:avLst/>
          </a:prstGeom>
          <a:noFill/>
          <a:ln/>
        </p:spPr>
        <p:txBody>
          <a:bodyPr wrap="none" lIns="0" tIns="0" rIns="0" bIns="0" rtlCol="0" anchor="t"/>
          <a:lstStyle/>
          <a:p>
            <a:pPr algn="l" indent="0" marL="0">
              <a:lnSpc>
                <a:spcPts val="4050"/>
              </a:lnSpc>
              <a:buNone/>
            </a:pPr>
            <a:r>
              <a:rPr lang="en-US" sz="3250" dirty="0">
                <a:solidFill>
                  <a:srgbClr val="233E32"/>
                </a:solidFill>
                <a:latin typeface="Alice" pitchFamily="34" charset="0"/>
                <a:ea typeface="Alice" pitchFamily="34" charset="-122"/>
                <a:cs typeface="Alice" pitchFamily="34" charset="-120"/>
              </a:rPr>
              <a:t>Kỹ thuật Tối ưu hóa Mô hình</a:t>
            </a:r>
            <a:endParaRPr lang="en-US" sz="3250" dirty="0"/>
          </a:p>
        </p:txBody>
      </p:sp>
      <p:sp>
        <p:nvSpPr>
          <p:cNvPr id="3" name="Text 1"/>
          <p:cNvSpPr/>
          <p:nvPr/>
        </p:nvSpPr>
        <p:spPr>
          <a:xfrm>
            <a:off x="1593056" y="1986796"/>
            <a:ext cx="11444288" cy="229672"/>
          </a:xfrm>
          <a:prstGeom prst="rect">
            <a:avLst/>
          </a:prstGeom>
          <a:noFill/>
          <a:ln/>
        </p:spPr>
        <p:txBody>
          <a:bodyPr wrap="none" lIns="0" tIns="0" rIns="0" bIns="0" rtlCol="0" anchor="t"/>
          <a:lstStyle/>
          <a:p>
            <a:pPr algn="l" indent="0" marL="0">
              <a:lnSpc>
                <a:spcPts val="1800"/>
              </a:lnSpc>
              <a:buNone/>
            </a:pPr>
            <a:r>
              <a:rPr lang="en-US" sz="1300" dirty="0">
                <a:solidFill>
                  <a:srgbClr val="2C2821"/>
                </a:solidFill>
                <a:latin typeface="Lora" pitchFamily="34" charset="0"/>
                <a:ea typeface="Lora" pitchFamily="34" charset="-122"/>
                <a:cs typeface="Lora" pitchFamily="34" charset="-120"/>
              </a:rPr>
              <a:t>Để phù hợp với các thiết bị nhỏ, TinyML sử dụng các kỹ thuật tối ưu hóa đặc biệt:</a:t>
            </a:r>
            <a:endParaRPr lang="en-US" sz="1300" dirty="0"/>
          </a:p>
        </p:txBody>
      </p:sp>
      <p:pic>
        <p:nvPicPr>
          <p:cNvPr id="4" name="Image 0" descr="preencoded.png">    </p:cNvPr>
          <p:cNvPicPr>
            <a:picLocks noChangeAspect="1"/>
          </p:cNvPicPr>
          <p:nvPr/>
        </p:nvPicPr>
        <p:blipFill>
          <a:blip r:embed="rId1"/>
          <a:stretch>
            <a:fillRect/>
          </a:stretch>
        </p:blipFill>
        <p:spPr>
          <a:xfrm>
            <a:off x="1593056" y="2489121"/>
            <a:ext cx="7297103" cy="4378166"/>
          </a:xfrm>
          <a:prstGeom prst="rect">
            <a:avLst/>
          </a:prstGeom>
        </p:spPr>
      </p:pic>
      <p:sp>
        <p:nvSpPr>
          <p:cNvPr id="5" name="Shape 2"/>
          <p:cNvSpPr/>
          <p:nvPr/>
        </p:nvSpPr>
        <p:spPr>
          <a:xfrm>
            <a:off x="9302353" y="2601873"/>
            <a:ext cx="3742492" cy="1217057"/>
          </a:xfrm>
          <a:prstGeom prst="roundRect">
            <a:avLst>
              <a:gd name="adj" fmla="val 9016"/>
            </a:avLst>
          </a:prstGeom>
          <a:solidFill>
            <a:srgbClr val="FCFBF8"/>
          </a:solidFill>
          <a:ln w="22860">
            <a:solidFill>
              <a:srgbClr val="D6D3CC"/>
            </a:solidFill>
            <a:prstDash val="solid"/>
          </a:ln>
        </p:spPr>
      </p:sp>
      <p:sp>
        <p:nvSpPr>
          <p:cNvPr id="6" name="Shape 3"/>
          <p:cNvSpPr/>
          <p:nvPr/>
        </p:nvSpPr>
        <p:spPr>
          <a:xfrm>
            <a:off x="9279493" y="2601873"/>
            <a:ext cx="91440" cy="1217057"/>
          </a:xfrm>
          <a:prstGeom prst="roundRect">
            <a:avLst>
              <a:gd name="adj" fmla="val 27208"/>
            </a:avLst>
          </a:prstGeom>
          <a:solidFill>
            <a:srgbClr val="1B5F39"/>
          </a:solidFill>
          <a:ln/>
        </p:spPr>
      </p:sp>
      <p:sp>
        <p:nvSpPr>
          <p:cNvPr id="7" name="Text 4"/>
          <p:cNvSpPr/>
          <p:nvPr/>
        </p:nvSpPr>
        <p:spPr>
          <a:xfrm>
            <a:off x="9559647" y="2790587"/>
            <a:ext cx="2073235" cy="259080"/>
          </a:xfrm>
          <a:prstGeom prst="rect">
            <a:avLst/>
          </a:prstGeom>
          <a:noFill/>
          <a:ln/>
        </p:spPr>
        <p:txBody>
          <a:bodyPr wrap="none" lIns="0" tIns="0" rIns="0" bIns="0" rtlCol="0" anchor="t"/>
          <a:lstStyle/>
          <a:p>
            <a:pPr algn="l" indent="0" marL="0">
              <a:lnSpc>
                <a:spcPts val="2000"/>
              </a:lnSpc>
              <a:buNone/>
            </a:pPr>
            <a:r>
              <a:rPr lang="en-US" sz="1600" dirty="0">
                <a:solidFill>
                  <a:srgbClr val="2C2821"/>
                </a:solidFill>
                <a:latin typeface="Alice" pitchFamily="34" charset="0"/>
                <a:ea typeface="Alice" pitchFamily="34" charset="-122"/>
                <a:cs typeface="Alice" pitchFamily="34" charset="-120"/>
              </a:rPr>
              <a:t>Cắt tỉa (Pruning)</a:t>
            </a:r>
            <a:endParaRPr lang="en-US" sz="1600" dirty="0"/>
          </a:p>
        </p:txBody>
      </p:sp>
      <p:sp>
        <p:nvSpPr>
          <p:cNvPr id="8" name="Text 5"/>
          <p:cNvSpPr/>
          <p:nvPr/>
        </p:nvSpPr>
        <p:spPr>
          <a:xfrm>
            <a:off x="9559647" y="3170873"/>
            <a:ext cx="3296483" cy="459343"/>
          </a:xfrm>
          <a:prstGeom prst="rect">
            <a:avLst/>
          </a:prstGeom>
          <a:noFill/>
          <a:ln/>
        </p:spPr>
        <p:txBody>
          <a:bodyPr wrap="square" lIns="0" tIns="0" rIns="0" bIns="0" rtlCol="0" anchor="t"/>
          <a:lstStyle/>
          <a:p>
            <a:pPr algn="l" indent="0" marL="0">
              <a:lnSpc>
                <a:spcPts val="1800"/>
              </a:lnSpc>
              <a:buNone/>
            </a:pPr>
            <a:r>
              <a:rPr lang="en-US" sz="1300" dirty="0">
                <a:solidFill>
                  <a:srgbClr val="2C2821"/>
                </a:solidFill>
                <a:latin typeface="Lora" pitchFamily="34" charset="0"/>
                <a:ea typeface="Lora" pitchFamily="34" charset="-122"/>
                <a:cs typeface="Lora" pitchFamily="34" charset="-120"/>
              </a:rPr>
              <a:t>Loại bỏ các trọng số không quan trọng trong mô hình để giảm kích thước.</a:t>
            </a:r>
            <a:endParaRPr lang="en-US" sz="1300" dirty="0"/>
          </a:p>
        </p:txBody>
      </p:sp>
      <p:sp>
        <p:nvSpPr>
          <p:cNvPr id="9" name="Shape 6"/>
          <p:cNvSpPr/>
          <p:nvPr/>
        </p:nvSpPr>
        <p:spPr>
          <a:xfrm>
            <a:off x="9302353" y="3940135"/>
            <a:ext cx="3742492" cy="1217057"/>
          </a:xfrm>
          <a:prstGeom prst="roundRect">
            <a:avLst>
              <a:gd name="adj" fmla="val 9016"/>
            </a:avLst>
          </a:prstGeom>
          <a:solidFill>
            <a:srgbClr val="FCFBF8"/>
          </a:solidFill>
          <a:ln w="22860">
            <a:solidFill>
              <a:srgbClr val="D6D3CC"/>
            </a:solidFill>
            <a:prstDash val="solid"/>
          </a:ln>
        </p:spPr>
      </p:sp>
      <p:sp>
        <p:nvSpPr>
          <p:cNvPr id="10" name="Shape 7"/>
          <p:cNvSpPr/>
          <p:nvPr/>
        </p:nvSpPr>
        <p:spPr>
          <a:xfrm>
            <a:off x="9279493" y="3940135"/>
            <a:ext cx="91440" cy="1217057"/>
          </a:xfrm>
          <a:prstGeom prst="roundRect">
            <a:avLst>
              <a:gd name="adj" fmla="val 27208"/>
            </a:avLst>
          </a:prstGeom>
          <a:solidFill>
            <a:srgbClr val="1B5F39"/>
          </a:solidFill>
          <a:ln/>
        </p:spPr>
      </p:sp>
      <p:sp>
        <p:nvSpPr>
          <p:cNvPr id="11" name="Text 8"/>
          <p:cNvSpPr/>
          <p:nvPr/>
        </p:nvSpPr>
        <p:spPr>
          <a:xfrm>
            <a:off x="9559647" y="4128849"/>
            <a:ext cx="2639378" cy="259080"/>
          </a:xfrm>
          <a:prstGeom prst="rect">
            <a:avLst/>
          </a:prstGeom>
          <a:noFill/>
          <a:ln/>
        </p:spPr>
        <p:txBody>
          <a:bodyPr wrap="none" lIns="0" tIns="0" rIns="0" bIns="0" rtlCol="0" anchor="t"/>
          <a:lstStyle/>
          <a:p>
            <a:pPr algn="l" indent="0" marL="0">
              <a:lnSpc>
                <a:spcPts val="2000"/>
              </a:lnSpc>
              <a:buNone/>
            </a:pPr>
            <a:r>
              <a:rPr lang="en-US" sz="1600" dirty="0">
                <a:solidFill>
                  <a:srgbClr val="2C2821"/>
                </a:solidFill>
                <a:latin typeface="Alice" pitchFamily="34" charset="0"/>
                <a:ea typeface="Alice" pitchFamily="34" charset="-122"/>
                <a:cs typeface="Alice" pitchFamily="34" charset="-120"/>
              </a:rPr>
              <a:t>Lượng tử hóa (Quantization)</a:t>
            </a:r>
            <a:endParaRPr lang="en-US" sz="1600" dirty="0"/>
          </a:p>
        </p:txBody>
      </p:sp>
      <p:sp>
        <p:nvSpPr>
          <p:cNvPr id="12" name="Text 9"/>
          <p:cNvSpPr/>
          <p:nvPr/>
        </p:nvSpPr>
        <p:spPr>
          <a:xfrm>
            <a:off x="9559647" y="4509135"/>
            <a:ext cx="3296483" cy="459343"/>
          </a:xfrm>
          <a:prstGeom prst="rect">
            <a:avLst/>
          </a:prstGeom>
          <a:noFill/>
          <a:ln/>
        </p:spPr>
        <p:txBody>
          <a:bodyPr wrap="square" lIns="0" tIns="0" rIns="0" bIns="0" rtlCol="0" anchor="t"/>
          <a:lstStyle/>
          <a:p>
            <a:pPr algn="l" indent="0" marL="0">
              <a:lnSpc>
                <a:spcPts val="1800"/>
              </a:lnSpc>
              <a:buNone/>
            </a:pPr>
            <a:r>
              <a:rPr lang="en-US" sz="1300" dirty="0">
                <a:solidFill>
                  <a:srgbClr val="2C2821"/>
                </a:solidFill>
                <a:latin typeface="Lora" pitchFamily="34" charset="0"/>
                <a:ea typeface="Lora" pitchFamily="34" charset="-122"/>
                <a:cs typeface="Lora" pitchFamily="34" charset="-120"/>
              </a:rPr>
              <a:t>Giảm độ chính xác của các trọng số, tiết kiệm không gian bộ nhớ và năng lượng.</a:t>
            </a:r>
            <a:endParaRPr lang="en-US" sz="1300" dirty="0"/>
          </a:p>
        </p:txBody>
      </p:sp>
      <p:sp>
        <p:nvSpPr>
          <p:cNvPr id="13" name="Shape 10"/>
          <p:cNvSpPr/>
          <p:nvPr/>
        </p:nvSpPr>
        <p:spPr>
          <a:xfrm>
            <a:off x="9302353" y="5278398"/>
            <a:ext cx="3742492" cy="1476137"/>
          </a:xfrm>
          <a:prstGeom prst="roundRect">
            <a:avLst>
              <a:gd name="adj" fmla="val 7433"/>
            </a:avLst>
          </a:prstGeom>
          <a:solidFill>
            <a:srgbClr val="FCFBF8"/>
          </a:solidFill>
          <a:ln w="22860">
            <a:solidFill>
              <a:srgbClr val="D6D3CC"/>
            </a:solidFill>
            <a:prstDash val="solid"/>
          </a:ln>
        </p:spPr>
      </p:sp>
      <p:sp>
        <p:nvSpPr>
          <p:cNvPr id="14" name="Shape 11"/>
          <p:cNvSpPr/>
          <p:nvPr/>
        </p:nvSpPr>
        <p:spPr>
          <a:xfrm>
            <a:off x="9279493" y="5278398"/>
            <a:ext cx="91440" cy="1476137"/>
          </a:xfrm>
          <a:prstGeom prst="roundRect">
            <a:avLst>
              <a:gd name="adj" fmla="val 27208"/>
            </a:avLst>
          </a:prstGeom>
          <a:solidFill>
            <a:srgbClr val="1B5F39"/>
          </a:solidFill>
          <a:ln/>
        </p:spPr>
      </p:sp>
      <p:sp>
        <p:nvSpPr>
          <p:cNvPr id="15" name="Text 12"/>
          <p:cNvSpPr/>
          <p:nvPr/>
        </p:nvSpPr>
        <p:spPr>
          <a:xfrm>
            <a:off x="9559647" y="5467112"/>
            <a:ext cx="3296483" cy="518160"/>
          </a:xfrm>
          <a:prstGeom prst="rect">
            <a:avLst/>
          </a:prstGeom>
          <a:noFill/>
          <a:ln/>
        </p:spPr>
        <p:txBody>
          <a:bodyPr wrap="square" lIns="0" tIns="0" rIns="0" bIns="0" rtlCol="0" anchor="t"/>
          <a:lstStyle/>
          <a:p>
            <a:pPr algn="l" indent="0" marL="0">
              <a:lnSpc>
                <a:spcPts val="2000"/>
              </a:lnSpc>
              <a:buNone/>
            </a:pPr>
            <a:r>
              <a:rPr lang="en-US" sz="1600" dirty="0">
                <a:solidFill>
                  <a:srgbClr val="2C2821"/>
                </a:solidFill>
                <a:latin typeface="Alice" pitchFamily="34" charset="0"/>
                <a:ea typeface="Alice" pitchFamily="34" charset="-122"/>
                <a:cs typeface="Alice" pitchFamily="34" charset="-120"/>
              </a:rPr>
              <a:t>Chắt lọc tri thức (Knowledge Distillation)</a:t>
            </a:r>
            <a:endParaRPr lang="en-US" sz="1600" dirty="0"/>
          </a:p>
        </p:txBody>
      </p:sp>
      <p:sp>
        <p:nvSpPr>
          <p:cNvPr id="16" name="Text 13"/>
          <p:cNvSpPr/>
          <p:nvPr/>
        </p:nvSpPr>
        <p:spPr>
          <a:xfrm>
            <a:off x="9559647" y="6106478"/>
            <a:ext cx="3296483" cy="459343"/>
          </a:xfrm>
          <a:prstGeom prst="rect">
            <a:avLst/>
          </a:prstGeom>
          <a:noFill/>
          <a:ln/>
        </p:spPr>
        <p:txBody>
          <a:bodyPr wrap="square" lIns="0" tIns="0" rIns="0" bIns="0" rtlCol="0" anchor="t"/>
          <a:lstStyle/>
          <a:p>
            <a:pPr algn="l" indent="0" marL="0">
              <a:lnSpc>
                <a:spcPts val="1800"/>
              </a:lnSpc>
              <a:buNone/>
            </a:pPr>
            <a:r>
              <a:rPr lang="en-US" sz="1300" dirty="0">
                <a:solidFill>
                  <a:srgbClr val="2C2821"/>
                </a:solidFill>
                <a:latin typeface="Lora" pitchFamily="34" charset="0"/>
                <a:ea typeface="Lora" pitchFamily="34" charset="-122"/>
                <a:cs typeface="Lora" pitchFamily="34" charset="-120"/>
              </a:rPr>
              <a:t>Sử dụng mô hình lớn để huấn luyện mô hình nhỏ hơn, duy trì hiệu quả.</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97481"/>
            <a:ext cx="8141613"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Ứng dụng Tiêu biểu của TinyML</a:t>
            </a:r>
            <a:endParaRPr lang="en-US" sz="4450" dirty="0"/>
          </a:p>
        </p:txBody>
      </p:sp>
      <p:sp>
        <p:nvSpPr>
          <p:cNvPr id="3" name="Text 1"/>
          <p:cNvSpPr/>
          <p:nvPr/>
        </p:nvSpPr>
        <p:spPr>
          <a:xfrm>
            <a:off x="793790" y="195988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TinyML đang mang lại nhiều giải pháp mới trong đa dạng các lĩnh vực:</a:t>
            </a:r>
            <a:endParaRPr lang="en-US" sz="1750" dirty="0"/>
          </a:p>
        </p:txBody>
      </p:sp>
      <p:pic>
        <p:nvPicPr>
          <p:cNvPr id="4" name="Image 0" descr="preencoded.png">    </p:cNvPr>
          <p:cNvPicPr>
            <a:picLocks noChangeAspect="1"/>
          </p:cNvPicPr>
          <p:nvPr/>
        </p:nvPicPr>
        <p:blipFill>
          <a:blip r:embed="rId1"/>
          <a:stretch>
            <a:fillRect/>
          </a:stretch>
        </p:blipFill>
        <p:spPr>
          <a:xfrm>
            <a:off x="793790" y="2577941"/>
            <a:ext cx="3048000" cy="3048000"/>
          </a:xfrm>
          <a:prstGeom prst="rect">
            <a:avLst/>
          </a:prstGeom>
        </p:spPr>
      </p:pic>
      <p:sp>
        <p:nvSpPr>
          <p:cNvPr id="5" name="Text 2"/>
          <p:cNvSpPr/>
          <p:nvPr/>
        </p:nvSpPr>
        <p:spPr>
          <a:xfrm>
            <a:off x="793790" y="58527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Y tế</a:t>
            </a:r>
            <a:endParaRPr lang="en-US" sz="2200" dirty="0"/>
          </a:p>
        </p:txBody>
      </p:sp>
      <p:sp>
        <p:nvSpPr>
          <p:cNvPr id="6" name="Text 3"/>
          <p:cNvSpPr/>
          <p:nvPr/>
        </p:nvSpPr>
        <p:spPr>
          <a:xfrm>
            <a:off x="793790" y="6343174"/>
            <a:ext cx="3048000"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Theo dõi huyết áp và hỗ trợ phát hiện các cơn động kinh.</a:t>
            </a:r>
            <a:endParaRPr lang="en-US" sz="1750" dirty="0"/>
          </a:p>
        </p:txBody>
      </p:sp>
      <p:pic>
        <p:nvPicPr>
          <p:cNvPr id="7" name="Image 1" descr="preencoded.png">    </p:cNvPr>
          <p:cNvPicPr>
            <a:picLocks noChangeAspect="1"/>
          </p:cNvPicPr>
          <p:nvPr/>
        </p:nvPicPr>
        <p:blipFill>
          <a:blip r:embed="rId2"/>
          <a:stretch>
            <a:fillRect/>
          </a:stretch>
        </p:blipFill>
        <p:spPr>
          <a:xfrm>
            <a:off x="4125278" y="2577941"/>
            <a:ext cx="3048119" cy="3048119"/>
          </a:xfrm>
          <a:prstGeom prst="rect">
            <a:avLst/>
          </a:prstGeom>
        </p:spPr>
      </p:pic>
      <p:sp>
        <p:nvSpPr>
          <p:cNvPr id="8" name="Text 4"/>
          <p:cNvSpPr/>
          <p:nvPr/>
        </p:nvSpPr>
        <p:spPr>
          <a:xfrm>
            <a:off x="4125278" y="585287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Nông nghiệp</a:t>
            </a:r>
            <a:endParaRPr lang="en-US" sz="2200" dirty="0"/>
          </a:p>
        </p:txBody>
      </p:sp>
      <p:sp>
        <p:nvSpPr>
          <p:cNvPr id="9" name="Text 5"/>
          <p:cNvSpPr/>
          <p:nvPr/>
        </p:nvSpPr>
        <p:spPr>
          <a:xfrm>
            <a:off x="4125278" y="6343293"/>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Quản lý sức khỏe cây trồng và triển khai hệ thống tưới tiêu thông minh.</a:t>
            </a:r>
            <a:endParaRPr lang="en-US" sz="1750" dirty="0"/>
          </a:p>
        </p:txBody>
      </p:sp>
      <p:pic>
        <p:nvPicPr>
          <p:cNvPr id="10" name="Image 2" descr="preencoded.png">    </p:cNvPr>
          <p:cNvPicPr>
            <a:picLocks noChangeAspect="1"/>
          </p:cNvPicPr>
          <p:nvPr/>
        </p:nvPicPr>
        <p:blipFill>
          <a:blip r:embed="rId3"/>
          <a:stretch>
            <a:fillRect/>
          </a:stretch>
        </p:blipFill>
        <p:spPr>
          <a:xfrm>
            <a:off x="7456884" y="2577941"/>
            <a:ext cx="3048119" cy="3048119"/>
          </a:xfrm>
          <a:prstGeom prst="rect">
            <a:avLst/>
          </a:prstGeom>
        </p:spPr>
      </p:pic>
      <p:sp>
        <p:nvSpPr>
          <p:cNvPr id="11" name="Text 6"/>
          <p:cNvSpPr/>
          <p:nvPr/>
        </p:nvSpPr>
        <p:spPr>
          <a:xfrm>
            <a:off x="7456884" y="585287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Môi trường</a:t>
            </a:r>
            <a:endParaRPr lang="en-US" sz="2200" dirty="0"/>
          </a:p>
        </p:txBody>
      </p:sp>
      <p:sp>
        <p:nvSpPr>
          <p:cNvPr id="12" name="Text 7"/>
          <p:cNvSpPr/>
          <p:nvPr/>
        </p:nvSpPr>
        <p:spPr>
          <a:xfrm>
            <a:off x="7456884" y="6343293"/>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Giám sát chất lượng nguồn nước và đo lường lượng khí thải.</a:t>
            </a:r>
            <a:endParaRPr lang="en-US" sz="1750" dirty="0"/>
          </a:p>
        </p:txBody>
      </p:sp>
      <p:pic>
        <p:nvPicPr>
          <p:cNvPr id="13" name="Image 3" descr="preencoded.png">    </p:cNvPr>
          <p:cNvPicPr>
            <a:picLocks noChangeAspect="1"/>
          </p:cNvPicPr>
          <p:nvPr/>
        </p:nvPicPr>
        <p:blipFill>
          <a:blip r:embed="rId4"/>
          <a:stretch>
            <a:fillRect/>
          </a:stretch>
        </p:blipFill>
        <p:spPr>
          <a:xfrm>
            <a:off x="10788491" y="2577941"/>
            <a:ext cx="3048119" cy="3048119"/>
          </a:xfrm>
          <a:prstGeom prst="rect">
            <a:avLst/>
          </a:prstGeom>
        </p:spPr>
      </p:pic>
      <p:sp>
        <p:nvSpPr>
          <p:cNvPr id="14" name="Text 8"/>
          <p:cNvSpPr/>
          <p:nvPr/>
        </p:nvSpPr>
        <p:spPr>
          <a:xfrm>
            <a:off x="10788491" y="585287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Công nghiệp</a:t>
            </a:r>
            <a:endParaRPr lang="en-US" sz="2200" dirty="0"/>
          </a:p>
        </p:txBody>
      </p:sp>
      <p:sp>
        <p:nvSpPr>
          <p:cNvPr id="15" name="Text 9"/>
          <p:cNvSpPr/>
          <p:nvPr/>
        </p:nvSpPr>
        <p:spPr>
          <a:xfrm>
            <a:off x="10788491" y="6343293"/>
            <a:ext cx="3048119"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Thực hiện bảo trì dự báo cho các hệ thống máy móc.</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4998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Thách thức Hiện tại</a:t>
            </a:r>
            <a:endParaRPr lang="en-US" sz="4450" dirty="0"/>
          </a:p>
        </p:txBody>
      </p:sp>
      <p:pic>
        <p:nvPicPr>
          <p:cNvPr id="3" name="Image 0" descr="preencoded.png">    </p:cNvPr>
          <p:cNvPicPr>
            <a:picLocks noChangeAspect="1"/>
          </p:cNvPicPr>
          <p:nvPr/>
        </p:nvPicPr>
        <p:blipFill>
          <a:blip r:embed="rId1"/>
          <a:stretch>
            <a:fillRect/>
          </a:stretch>
        </p:blipFill>
        <p:spPr>
          <a:xfrm>
            <a:off x="793790" y="2154079"/>
            <a:ext cx="8284131" cy="4970383"/>
          </a:xfrm>
          <a:prstGeom prst="rect">
            <a:avLst/>
          </a:prstGeom>
        </p:spPr>
      </p:pic>
      <p:sp>
        <p:nvSpPr>
          <p:cNvPr id="4" name="Shape 1"/>
          <p:cNvSpPr/>
          <p:nvPr/>
        </p:nvSpPr>
        <p:spPr>
          <a:xfrm>
            <a:off x="9638943" y="2765227"/>
            <a:ext cx="4205168" cy="1760577"/>
          </a:xfrm>
          <a:prstGeom prst="roundRect">
            <a:avLst>
              <a:gd name="adj" fmla="val 1933"/>
            </a:avLst>
          </a:prstGeom>
          <a:solidFill>
            <a:srgbClr val="F0EDE6"/>
          </a:solidFill>
          <a:ln/>
        </p:spPr>
      </p:sp>
      <p:sp>
        <p:nvSpPr>
          <p:cNvPr id="5" name="Text 2"/>
          <p:cNvSpPr/>
          <p:nvPr/>
        </p:nvSpPr>
        <p:spPr>
          <a:xfrm>
            <a:off x="9865757" y="299204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Bộ nhớ hạn chế</a:t>
            </a:r>
            <a:endParaRPr lang="en-US" sz="2200" dirty="0"/>
          </a:p>
        </p:txBody>
      </p:sp>
      <p:sp>
        <p:nvSpPr>
          <p:cNvPr id="6" name="Text 3"/>
          <p:cNvSpPr/>
          <p:nvPr/>
        </p:nvSpPr>
        <p:spPr>
          <a:xfrm>
            <a:off x="9865757" y="3573185"/>
            <a:ext cx="3751540"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Các thiết bị vi điều khiển có dung lượng bộ nhớ rất nhỏ.</a:t>
            </a:r>
            <a:endParaRPr lang="en-US" sz="1750" dirty="0"/>
          </a:p>
        </p:txBody>
      </p:sp>
      <p:sp>
        <p:nvSpPr>
          <p:cNvPr id="7" name="Shape 4"/>
          <p:cNvSpPr/>
          <p:nvPr/>
        </p:nvSpPr>
        <p:spPr>
          <a:xfrm>
            <a:off x="9638943" y="4752618"/>
            <a:ext cx="4205168" cy="1760577"/>
          </a:xfrm>
          <a:prstGeom prst="roundRect">
            <a:avLst>
              <a:gd name="adj" fmla="val 1933"/>
            </a:avLst>
          </a:prstGeom>
          <a:solidFill>
            <a:srgbClr val="F0EDE6"/>
          </a:solidFill>
          <a:ln/>
        </p:spPr>
      </p:sp>
      <p:sp>
        <p:nvSpPr>
          <p:cNvPr id="8" name="Text 5"/>
          <p:cNvSpPr/>
          <p:nvPr/>
        </p:nvSpPr>
        <p:spPr>
          <a:xfrm>
            <a:off x="9865757" y="497943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Sụt giảm độ chính xác</a:t>
            </a:r>
            <a:endParaRPr lang="en-US" sz="2200" dirty="0"/>
          </a:p>
        </p:txBody>
      </p:sp>
      <p:sp>
        <p:nvSpPr>
          <p:cNvPr id="9" name="Text 6"/>
          <p:cNvSpPr/>
          <p:nvPr/>
        </p:nvSpPr>
        <p:spPr>
          <a:xfrm>
            <a:off x="9865757" y="5560576"/>
            <a:ext cx="3751540"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Việc nén mô hình có thể làm giảm hiệu suất và độ chính xác.</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045976"/>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Tương lai của TinyML</a:t>
            </a:r>
            <a:endParaRPr lang="en-US" sz="4450" dirty="0"/>
          </a:p>
        </p:txBody>
      </p:sp>
      <p:sp>
        <p:nvSpPr>
          <p:cNvPr id="4" name="Text 1"/>
          <p:cNvSpPr/>
          <p:nvPr/>
        </p:nvSpPr>
        <p:spPr>
          <a:xfrm>
            <a:off x="793790" y="4094917"/>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TinyML hứa hẹn một tương lai nơi AI trở nên phổ biến hơn, tích hợp vào mọi khía cạnh của cuộc sống hàng ngày, từ nhà thông minh đến các thiết bị đeo tay.</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49987"/>
            <a:ext cx="8299013"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TinyML và Internet Vạn Vật (IoT)</a:t>
            </a:r>
            <a:endParaRPr lang="en-US" sz="4450" dirty="0"/>
          </a:p>
        </p:txBody>
      </p:sp>
      <p:sp>
        <p:nvSpPr>
          <p:cNvPr id="3" name="Text 1"/>
          <p:cNvSpPr/>
          <p:nvPr/>
        </p:nvSpPr>
        <p:spPr>
          <a:xfrm>
            <a:off x="793790" y="2705814"/>
            <a:ext cx="4205168" cy="1451610"/>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TinyML là yếu tố then chốt cho sự phát triển của IoT, cho phép các thiết bị thông minh hoạt động độc lập và hiệu quả hơn.</a:t>
            </a:r>
            <a:endParaRPr lang="en-US" sz="1750" dirty="0"/>
          </a:p>
        </p:txBody>
      </p:sp>
      <p:sp>
        <p:nvSpPr>
          <p:cNvPr id="4" name="Text 2"/>
          <p:cNvSpPr/>
          <p:nvPr/>
        </p:nvSpPr>
        <p:spPr>
          <a:xfrm>
            <a:off x="793790" y="4361498"/>
            <a:ext cx="4205168" cy="217754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Xử lý dữ liệu cục bộ, giảm tải cho đám mây.</a:t>
            </a:r>
            <a:endParaRPr lang="en-US" sz="1750" dirty="0"/>
          </a:p>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Tăng cường bảo mật cho các thiết bị IoT.</a:t>
            </a:r>
            <a:endParaRPr lang="en-US" sz="1750" dirty="0"/>
          </a:p>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Kéo dài tuổi thọ pin cho các cảm biến và thiết bị.</a:t>
            </a:r>
            <a:endParaRPr lang="en-US" sz="1750" dirty="0"/>
          </a:p>
        </p:txBody>
      </p:sp>
      <p:pic>
        <p:nvPicPr>
          <p:cNvPr id="5" name="Image 0" descr="preencoded.png">    </p:cNvPr>
          <p:cNvPicPr>
            <a:picLocks noChangeAspect="1"/>
          </p:cNvPicPr>
          <p:nvPr/>
        </p:nvPicPr>
        <p:blipFill>
          <a:blip r:embed="rId1"/>
          <a:stretch>
            <a:fillRect/>
          </a:stretch>
        </p:blipFill>
        <p:spPr>
          <a:xfrm>
            <a:off x="5559981" y="2154079"/>
            <a:ext cx="8284131" cy="49703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51309"/>
            <a:ext cx="6861929"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Phát triển Mô hình TinyML</a:t>
            </a:r>
            <a:endParaRPr lang="en-US" sz="4450" dirty="0"/>
          </a:p>
        </p:txBody>
      </p:sp>
      <p:pic>
        <p:nvPicPr>
          <p:cNvPr id="3" name="Image 0" descr="preencoded.png">    </p:cNvPr>
          <p:cNvPicPr>
            <a:picLocks noChangeAspect="1"/>
          </p:cNvPicPr>
          <p:nvPr/>
        </p:nvPicPr>
        <p:blipFill>
          <a:blip r:embed="rId1"/>
          <a:stretch>
            <a:fillRect/>
          </a:stretch>
        </p:blipFill>
        <p:spPr>
          <a:xfrm>
            <a:off x="3484959" y="2113717"/>
            <a:ext cx="7660481" cy="4546521"/>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97778" y="3224962"/>
            <a:ext cx="652129" cy="652131"/>
          </a:xfrm>
          <a:prstGeom prst="rect">
            <a:avLst/>
          </a:prstGeom>
        </p:spPr>
      </p:pic>
      <p:sp>
        <p:nvSpPr>
          <p:cNvPr id="5" name="Text 1"/>
          <p:cNvSpPr/>
          <p:nvPr/>
        </p:nvSpPr>
        <p:spPr>
          <a:xfrm>
            <a:off x="8816770" y="5422234"/>
            <a:ext cx="1904221" cy="733647"/>
          </a:xfrm>
          <a:prstGeom prst="rect">
            <a:avLst/>
          </a:prstGeom>
          <a:noFill/>
          <a:ln/>
        </p:spPr>
        <p:txBody>
          <a:bodyPr wrap="square" lIns="0" tIns="0" rIns="0" bIns="0" rtlCol="0" anchor="t"/>
          <a:lstStyle/>
          <a:p>
            <a:pPr algn="ctr" indent="0" marL="0">
              <a:lnSpc>
                <a:spcPts val="1650"/>
              </a:lnSpc>
              <a:buNone/>
            </a:pPr>
            <a:r>
              <a:rPr lang="en-US" sz="1350" dirty="0">
                <a:solidFill>
                  <a:srgbClr val="2C2821"/>
                </a:solidFill>
                <a:latin typeface="Alice" pitchFamily="34" charset="0"/>
                <a:ea typeface="Alice" pitchFamily="34" charset="-122"/>
                <a:cs typeface="Alice" pitchFamily="34" charset="-120"/>
              </a:rPr>
              <a:t>Edge Deployment</a:t>
            </a:r>
            <a:endParaRPr lang="en-US" sz="13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10368" y="3226184"/>
            <a:ext cx="652130" cy="652131"/>
          </a:xfrm>
          <a:prstGeom prst="rect">
            <a:avLst/>
          </a:prstGeom>
        </p:spPr>
      </p:pic>
      <p:sp>
        <p:nvSpPr>
          <p:cNvPr id="7" name="Text 2"/>
          <p:cNvSpPr/>
          <p:nvPr/>
        </p:nvSpPr>
        <p:spPr>
          <a:xfrm>
            <a:off x="6416929" y="5422234"/>
            <a:ext cx="1904221" cy="733647"/>
          </a:xfrm>
          <a:prstGeom prst="rect">
            <a:avLst/>
          </a:prstGeom>
          <a:noFill/>
          <a:ln/>
        </p:spPr>
        <p:txBody>
          <a:bodyPr wrap="square" lIns="0" tIns="0" rIns="0" bIns="0" rtlCol="0" anchor="t"/>
          <a:lstStyle/>
          <a:p>
            <a:pPr algn="ctr" indent="0" marL="0">
              <a:lnSpc>
                <a:spcPts val="1650"/>
              </a:lnSpc>
              <a:buNone/>
            </a:pPr>
            <a:r>
              <a:rPr lang="en-US" sz="1350" dirty="0">
                <a:solidFill>
                  <a:srgbClr val="2C2821"/>
                </a:solidFill>
                <a:latin typeface="Alice" pitchFamily="34" charset="0"/>
                <a:ea typeface="Alice" pitchFamily="34" charset="-122"/>
                <a:cs typeface="Alice" pitchFamily="34" charset="-120"/>
              </a:rPr>
              <a:t>Model Training</a:t>
            </a:r>
            <a:endParaRPr lang="en-US" sz="13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10528" y="3226184"/>
            <a:ext cx="652130" cy="652131"/>
          </a:xfrm>
          <a:prstGeom prst="rect">
            <a:avLst/>
          </a:prstGeom>
        </p:spPr>
      </p:pic>
      <p:sp>
        <p:nvSpPr>
          <p:cNvPr id="9" name="Text 3"/>
          <p:cNvSpPr/>
          <p:nvPr/>
        </p:nvSpPr>
        <p:spPr>
          <a:xfrm>
            <a:off x="3977961" y="5422234"/>
            <a:ext cx="1904221" cy="733647"/>
          </a:xfrm>
          <a:prstGeom prst="rect">
            <a:avLst/>
          </a:prstGeom>
          <a:noFill/>
          <a:ln/>
        </p:spPr>
        <p:txBody>
          <a:bodyPr wrap="square" lIns="0" tIns="0" rIns="0" bIns="0" rtlCol="0" anchor="t"/>
          <a:lstStyle/>
          <a:p>
            <a:pPr algn="ctr" indent="0" marL="0">
              <a:lnSpc>
                <a:spcPts val="1650"/>
              </a:lnSpc>
              <a:buNone/>
            </a:pPr>
            <a:r>
              <a:rPr lang="en-US" sz="1350" dirty="0">
                <a:solidFill>
                  <a:srgbClr val="2C2821"/>
                </a:solidFill>
                <a:latin typeface="Alice" pitchFamily="34" charset="0"/>
                <a:ea typeface="Alice" pitchFamily="34" charset="-122"/>
                <a:cs typeface="Alice" pitchFamily="34" charset="-120"/>
              </a:rPr>
              <a:t>Data Collection</a:t>
            </a:r>
            <a:endParaRPr lang="en-US" sz="1350" dirty="0"/>
          </a:p>
        </p:txBody>
      </p:sp>
      <p:sp>
        <p:nvSpPr>
          <p:cNvPr id="10" name="Text 4"/>
          <p:cNvSpPr/>
          <p:nvPr/>
        </p:nvSpPr>
        <p:spPr>
          <a:xfrm>
            <a:off x="793790" y="691538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Quy trình phát triển mô hình TinyML bao gồm thu thập dữ liệu, huấn luyện mô hình và triển khai lên thiết bị biên.</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408873"/>
            <a:ext cx="6527363"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Cộng đồng và Nghiên cứu</a:t>
            </a:r>
            <a:endParaRPr lang="en-US" sz="4450" dirty="0"/>
          </a:p>
        </p:txBody>
      </p:sp>
      <p:sp>
        <p:nvSpPr>
          <p:cNvPr id="3" name="Text 1"/>
          <p:cNvSpPr/>
          <p:nvPr/>
        </p:nvSpPr>
        <p:spPr>
          <a:xfrm>
            <a:off x="793790" y="3571280"/>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Cộng đồng TinyML đang phát triển mạnh mẽ, với nhiều nghiên cứu và dự án mã nguồn mở thúc đẩy sự đổi mới trong lĩnh vực này.</a:t>
            </a:r>
            <a:endParaRPr lang="en-US" sz="1750" dirty="0"/>
          </a:p>
        </p:txBody>
      </p:sp>
      <p:pic>
        <p:nvPicPr>
          <p:cNvPr id="4" name="Image 0" descr="preencoded.png">    </p:cNvPr>
          <p:cNvPicPr>
            <a:picLocks noChangeAspect="1"/>
          </p:cNvPicPr>
          <p:nvPr/>
        </p:nvPicPr>
        <p:blipFill>
          <a:blip r:embed="rId1"/>
          <a:stretch>
            <a:fillRect/>
          </a:stretch>
        </p:blipFill>
        <p:spPr>
          <a:xfrm>
            <a:off x="3866198" y="4698206"/>
            <a:ext cx="1588413" cy="907256"/>
          </a:xfrm>
          <a:prstGeom prst="rect">
            <a:avLst/>
          </a:prstGeom>
        </p:spPr>
      </p:pic>
      <p:pic>
        <p:nvPicPr>
          <p:cNvPr id="5" name="Image 1" descr="preencoded.png">    </p:cNvPr>
          <p:cNvPicPr>
            <a:picLocks noChangeAspect="1"/>
          </p:cNvPicPr>
          <p:nvPr/>
        </p:nvPicPr>
        <p:blipFill>
          <a:blip r:embed="rId2"/>
          <a:stretch>
            <a:fillRect/>
          </a:stretch>
        </p:blipFill>
        <p:spPr>
          <a:xfrm>
            <a:off x="5636062" y="4698206"/>
            <a:ext cx="1588413" cy="907256"/>
          </a:xfrm>
          <a:prstGeom prst="rect">
            <a:avLst/>
          </a:prstGeom>
        </p:spPr>
      </p:pic>
      <p:pic>
        <p:nvPicPr>
          <p:cNvPr id="6" name="Image 2" descr="preencoded.png">    </p:cNvPr>
          <p:cNvPicPr>
            <a:picLocks noChangeAspect="1"/>
          </p:cNvPicPr>
          <p:nvPr/>
        </p:nvPicPr>
        <p:blipFill>
          <a:blip r:embed="rId3"/>
          <a:stretch>
            <a:fillRect/>
          </a:stretch>
        </p:blipFill>
        <p:spPr>
          <a:xfrm>
            <a:off x="7405926" y="4698206"/>
            <a:ext cx="1588413" cy="907256"/>
          </a:xfrm>
          <a:prstGeom prst="rect">
            <a:avLst/>
          </a:prstGeom>
        </p:spPr>
      </p:pic>
      <p:pic>
        <p:nvPicPr>
          <p:cNvPr id="7" name="Image 3" descr="preencoded.png">    </p:cNvPr>
          <p:cNvPicPr>
            <a:picLocks noChangeAspect="1"/>
          </p:cNvPicPr>
          <p:nvPr/>
        </p:nvPicPr>
        <p:blipFill>
          <a:blip r:embed="rId4"/>
          <a:stretch>
            <a:fillRect/>
          </a:stretch>
        </p:blipFill>
        <p:spPr>
          <a:xfrm>
            <a:off x="9175790" y="4698206"/>
            <a:ext cx="1588413" cy="9072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045976"/>
            <a:ext cx="6995398"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Kết luận: Tiềm năng Vô hạn</a:t>
            </a:r>
            <a:endParaRPr lang="en-US" sz="4450" dirty="0"/>
          </a:p>
        </p:txBody>
      </p:sp>
      <p:sp>
        <p:nvSpPr>
          <p:cNvPr id="4" name="Text 1"/>
          <p:cNvSpPr/>
          <p:nvPr/>
        </p:nvSpPr>
        <p:spPr>
          <a:xfrm>
            <a:off x="793790" y="4094917"/>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TinyML không chỉ là một công nghệ mới mà còn là một hướng đi đầy hứa hẹn, mở ra cánh cửa cho vô số ứng dụng AI sáng tạo và bền vững trong tương lai.</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2026-02-02T02:50:54Z</dcterms:created>
  <dcterms:modified xsi:type="dcterms:W3CDTF">2026-02-02T02:50:54Z</dcterms:modified>
</cp:coreProperties>
</file>